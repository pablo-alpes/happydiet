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8" r:id="rId6"/>
    <p:sldId id="261" r:id="rId7"/>
    <p:sldId id="271" r:id="rId8"/>
    <p:sldId id="274" r:id="rId9"/>
    <p:sldId id="273" r:id="rId10"/>
    <p:sldId id="269" r:id="rId11"/>
    <p:sldId id="270" r:id="rId12"/>
    <p:sldId id="263" r:id="rId13"/>
    <p:sldId id="265" r:id="rId14"/>
    <p:sldId id="266" r:id="rId15"/>
    <p:sldId id="267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83"/>
    <p:restoredTop sz="94618"/>
  </p:normalViewPr>
  <p:slideViewPr>
    <p:cSldViewPr snapToGrid="0" snapToObjects="1">
      <p:cViewPr varScale="1">
        <p:scale>
          <a:sx n="192" d="100"/>
          <a:sy n="192" d="100"/>
        </p:scale>
        <p:origin x="184" y="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9450874C-BFB2-92C4-5A46-5E1951385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476250"/>
            <a:ext cx="8677275" cy="5784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800" b="1">
                <a:solidFill>
                  <a:srgbClr val="8FFFE0"/>
                </a:solidFill>
              </a:defRPr>
            </a:pPr>
            <a:r>
              <a:rPr dirty="0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38404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rPr lang="es-ES" dirty="0" err="1">
                <a:solidFill>
                  <a:schemeClr val="bg1"/>
                </a:solidFill>
              </a:rPr>
              <a:t>Friction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kills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compliance</a:t>
            </a:r>
            <a:r>
              <a:rPr lang="es-ES" dirty="0">
                <a:solidFill>
                  <a:schemeClr val="bg1"/>
                </a:solidFill>
              </a:rPr>
              <a:t>: manual logs, </a:t>
            </a:r>
            <a:r>
              <a:rPr lang="es-ES" dirty="0" err="1">
                <a:solidFill>
                  <a:schemeClr val="bg1"/>
                </a:solidFill>
              </a:rPr>
              <a:t>unclear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metrics</a:t>
            </a:r>
            <a:r>
              <a:rPr lang="es-ES" dirty="0">
                <a:solidFill>
                  <a:schemeClr val="bg1"/>
                </a:solidFill>
              </a:rPr>
              <a:t>, and </a:t>
            </a:r>
            <a:r>
              <a:rPr lang="es-ES" dirty="0" err="1">
                <a:solidFill>
                  <a:schemeClr val="bg1"/>
                </a:solidFill>
              </a:rPr>
              <a:t>subjective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diet</a:t>
            </a:r>
            <a:r>
              <a:rPr lang="es-ES" dirty="0">
                <a:solidFill>
                  <a:schemeClr val="bg1"/>
                </a:solidFill>
              </a:rPr>
              <a:t> tracking.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endParaRPr lang="es-ES" dirty="0">
              <a:solidFill>
                <a:schemeClr val="bg1"/>
              </a:solidFill>
            </a:endParaRPr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ES" dirty="0" err="1">
                <a:solidFill>
                  <a:schemeClr val="bg1"/>
                </a:solidFill>
              </a:rPr>
              <a:t>Existing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tools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fail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because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they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create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friction</a:t>
            </a:r>
            <a:r>
              <a:rPr lang="es-ES" dirty="0">
                <a:solidFill>
                  <a:schemeClr val="bg1"/>
                </a:solidFill>
              </a:rPr>
              <a:t> and </a:t>
            </a:r>
            <a:r>
              <a:rPr lang="es-ES" dirty="0" err="1">
                <a:solidFill>
                  <a:schemeClr val="bg1"/>
                </a:solidFill>
              </a:rPr>
              <a:t>lack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enough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support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to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patients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3" name="Picture 3" descr="A_photograph_captures_three_individuals_in_differe.png">
            <a:extLst>
              <a:ext uri="{FF2B5EF4-FFF2-40B4-BE49-F238E27FC236}">
                <a16:creationId xmlns:a16="http://schemas.microsoft.com/office/drawing/2014/main" id="{84AD037D-AB7A-1A63-9279-16813009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500" y="2103120"/>
            <a:ext cx="3670359" cy="3200400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0F395985-02C9-D7BB-5B46-B0A63727D37D}"/>
              </a:ext>
            </a:extLst>
          </p:cNvPr>
          <p:cNvGrpSpPr/>
          <p:nvPr/>
        </p:nvGrpSpPr>
        <p:grpSpPr>
          <a:xfrm>
            <a:off x="7089986" y="4374911"/>
            <a:ext cx="1697600" cy="2212818"/>
            <a:chOff x="1696720" y="4467382"/>
            <a:chExt cx="1697600" cy="221281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B45D56A-DBAD-EE27-B2BF-6F66C14815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9774"/>
            <a:stretch>
              <a:fillRect/>
            </a:stretch>
          </p:blipFill>
          <p:spPr bwMode="auto">
            <a:xfrm>
              <a:off x="1696720" y="4467382"/>
              <a:ext cx="1697600" cy="22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Sanitas Residencial La Moraleja: Residencias de ancianos en Madrid.  Residencias de lujo para mayores, Residencias tercera edad">
              <a:extLst>
                <a:ext uri="{FF2B5EF4-FFF2-40B4-BE49-F238E27FC236}">
                  <a16:creationId xmlns:a16="http://schemas.microsoft.com/office/drawing/2014/main" id="{2FDB02D3-BF29-0DFF-A844-F1D2210919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3401" y="4467382"/>
              <a:ext cx="770919" cy="282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dirty="0"/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0420" y="1377950"/>
            <a:ext cx="389763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dirty="0"/>
              <a:t>Digital health market &gt;$20B, rising demand for measurable nutrition and prevention.</a:t>
            </a:r>
            <a:endParaRPr lang="fr-FR" dirty="0"/>
          </a:p>
          <a:p>
            <a:pPr>
              <a:defRPr sz="2000">
                <a:solidFill>
                  <a:srgbClr val="464646"/>
                </a:solidFill>
              </a:defRPr>
            </a:pPr>
            <a:endParaRPr lang="es-FR"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fr-FR" dirty="0"/>
              <a:t>Top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dominate</a:t>
            </a:r>
            <a:r>
              <a:rPr lang="fr-FR" dirty="0"/>
              <a:t> the </a:t>
            </a:r>
            <a:r>
              <a:rPr lang="fr-FR" dirty="0" err="1"/>
              <a:t>arena</a:t>
            </a:r>
            <a:r>
              <a:rPr lang="fr-FR" dirty="0"/>
              <a:t> do focus </a:t>
            </a:r>
            <a:r>
              <a:rPr lang="fr-FR" dirty="0" err="1"/>
              <a:t>strongly</a:t>
            </a:r>
            <a:r>
              <a:rPr lang="fr-FR" dirty="0"/>
              <a:t> on kcal as key driver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endParaRPr lang="fr-FR"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fr-FR" dirty="0"/>
              <a:t>Nutrition </a:t>
            </a:r>
            <a:r>
              <a:rPr lang="fr-FR" dirty="0" err="1"/>
              <a:t>remains</a:t>
            </a:r>
            <a:r>
              <a:rPr lang="fr-FR" dirty="0"/>
              <a:t> the </a:t>
            </a:r>
            <a:r>
              <a:rPr lang="fr-FR" dirty="0" err="1"/>
              <a:t>only</a:t>
            </a:r>
            <a:r>
              <a:rPr lang="fr-FR" dirty="0"/>
              <a:t> major </a:t>
            </a:r>
            <a:r>
              <a:rPr lang="fr-FR" dirty="0" err="1"/>
              <a:t>health</a:t>
            </a:r>
            <a:r>
              <a:rPr lang="fr-FR" dirty="0"/>
              <a:t> driver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measurable</a:t>
            </a:r>
            <a:r>
              <a:rPr lang="fr-FR" dirty="0"/>
              <a:t> feedback.</a:t>
            </a:r>
            <a:br>
              <a:rPr lang="fr-FR" dirty="0"/>
            </a:br>
            <a:r>
              <a:rPr lang="fr-FR" dirty="0"/>
              <a:t>• 80% of </a:t>
            </a:r>
            <a:r>
              <a:rPr lang="fr-FR" dirty="0" err="1"/>
              <a:t>diet</a:t>
            </a:r>
            <a:r>
              <a:rPr lang="fr-FR" dirty="0"/>
              <a:t> plans fail by </a:t>
            </a:r>
            <a:r>
              <a:rPr lang="fr-FR" dirty="0" err="1"/>
              <a:t>week</a:t>
            </a:r>
            <a:r>
              <a:rPr lang="fr-FR" dirty="0"/>
              <a:t> 8.</a:t>
            </a:r>
            <a:br>
              <a:rPr lang="fr-FR" dirty="0"/>
            </a:br>
            <a:r>
              <a:rPr lang="fr-FR" dirty="0"/>
              <a:t>• Manual </a:t>
            </a:r>
            <a:r>
              <a:rPr lang="fr-FR" dirty="0" err="1"/>
              <a:t>tracking</a:t>
            </a:r>
            <a:r>
              <a:rPr lang="fr-FR" dirty="0"/>
              <a:t> </a:t>
            </a:r>
            <a:r>
              <a:rPr lang="fr-FR" dirty="0" err="1"/>
              <a:t>creates</a:t>
            </a:r>
            <a:r>
              <a:rPr lang="fr-FR" dirty="0"/>
              <a:t> friction.</a:t>
            </a:r>
            <a:br>
              <a:rPr lang="fr-FR" dirty="0"/>
            </a:br>
            <a:r>
              <a:rPr lang="fr-FR" dirty="0"/>
              <a:t>• </a:t>
            </a:r>
            <a:r>
              <a:rPr lang="fr-FR" dirty="0" err="1"/>
              <a:t>Clinics</a:t>
            </a:r>
            <a:r>
              <a:rPr lang="fr-FR" dirty="0"/>
              <a:t> and </a:t>
            </a:r>
            <a:r>
              <a:rPr lang="fr-FR" dirty="0" err="1"/>
              <a:t>insurers</a:t>
            </a:r>
            <a:r>
              <a:rPr lang="fr-FR" dirty="0"/>
              <a:t> </a:t>
            </a:r>
            <a:r>
              <a:rPr lang="fr-FR" dirty="0" err="1"/>
              <a:t>lack</a:t>
            </a:r>
            <a:r>
              <a:rPr lang="fr-FR" dirty="0"/>
              <a:t> objective </a:t>
            </a:r>
            <a:r>
              <a:rPr lang="fr-FR" dirty="0" err="1"/>
              <a:t>adherence</a:t>
            </a:r>
            <a:r>
              <a:rPr lang="fr-FR" dirty="0"/>
              <a:t> data.</a:t>
            </a:r>
            <a:endParaRPr dirty="0"/>
          </a:p>
        </p:txBody>
      </p:sp>
      <p:pic>
        <p:nvPicPr>
          <p:cNvPr id="6" name="Picture 3" descr="A_digital_promotional_slide_for_HappyDiet,_an_AI-p.png">
            <a:extLst>
              <a:ext uri="{FF2B5EF4-FFF2-40B4-BE49-F238E27FC236}">
                <a16:creationId xmlns:a16="http://schemas.microsoft.com/office/drawing/2014/main" id="{23AA574A-DB26-F605-A470-26574D110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28850"/>
            <a:ext cx="4520964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dirty="0"/>
              <a:t>Solution Overview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590E657-1683-82A0-277D-FD1A6BD44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200" y="2365743"/>
            <a:ext cx="4762100" cy="317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C4B75B-48E2-2676-267C-326540C7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425" b="-1"/>
          <a:stretch>
            <a:fillRect/>
          </a:stretch>
        </p:blipFill>
        <p:spPr>
          <a:xfrm>
            <a:off x="233246" y="2554706"/>
            <a:ext cx="3799897" cy="298577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1843A08-7BAC-42F1-255E-8AE1CC1F7391}"/>
              </a:ext>
            </a:extLst>
          </p:cNvPr>
          <p:cNvSpPr txBox="1"/>
          <p:nvPr/>
        </p:nvSpPr>
        <p:spPr>
          <a:xfrm>
            <a:off x="2273300" y="1381830"/>
            <a:ext cx="4762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rPr lang="fr-FR" dirty="0" err="1"/>
              <a:t>HappyDiet</a:t>
            </a:r>
            <a:r>
              <a:rPr lang="fr-FR" dirty="0"/>
              <a:t> automates nutrition </a:t>
            </a:r>
            <a:r>
              <a:rPr lang="fr-FR" dirty="0" err="1"/>
              <a:t>tracking</a:t>
            </a:r>
            <a:r>
              <a:rPr lang="fr-FR" dirty="0"/>
              <a:t> — 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meal</a:t>
            </a:r>
            <a:r>
              <a:rPr lang="fr-FR" dirty="0"/>
              <a:t> to insight &amp;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179850E-B7F7-4C63-1FCE-AF8DDA97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70" y="4042799"/>
            <a:ext cx="3726817" cy="236566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06B4D7A-F612-0CF8-74DE-7DD3D99E4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170" y="1419305"/>
            <a:ext cx="3730933" cy="2521568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14D67F26-8A5F-991B-53C2-4DA9D1DCB0F5}"/>
              </a:ext>
            </a:extLst>
          </p:cNvPr>
          <p:cNvSpPr txBox="1"/>
          <p:nvPr/>
        </p:nvSpPr>
        <p:spPr>
          <a:xfrm>
            <a:off x="731520" y="365760"/>
            <a:ext cx="730276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s-ES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lang="es-ES"/>
              <a:t>Proof of Concept &amp; Early Validation</a:t>
            </a:r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5FEB7E3-0DA2-55F5-8A1B-B315F4205A0D}"/>
              </a:ext>
            </a:extLst>
          </p:cNvPr>
          <p:cNvSpPr txBox="1"/>
          <p:nvPr/>
        </p:nvSpPr>
        <p:spPr>
          <a:xfrm>
            <a:off x="647700" y="1678715"/>
            <a:ext cx="40965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FR" dirty="0"/>
              <a:t>Need-validation : A local nutrition clinic confirmed the utility of this tracking system and suggested additional measures.</a:t>
            </a:r>
          </a:p>
          <a:p>
            <a:endParaRPr lang="es-FR" dirty="0"/>
          </a:p>
          <a:p>
            <a:r>
              <a:rPr lang="es-FR" dirty="0"/>
              <a:t>PoC tech: ChatGPT-5 multimodal with a prompt setup with main business logic built-in (rule engine, dataset, reporting)</a:t>
            </a:r>
          </a:p>
          <a:p>
            <a:endParaRPr lang="es-FR" dirty="0"/>
          </a:p>
          <a:p>
            <a:r>
              <a:rPr lang="es-FR" dirty="0"/>
              <a:t>Iterations (Patient Experience, Tool Development, data persistency, rule engine changes)</a:t>
            </a:r>
          </a:p>
          <a:p>
            <a:endParaRPr lang="es-FR" dirty="0"/>
          </a:p>
          <a:p>
            <a:r>
              <a:rPr lang="es-FR" dirty="0"/>
              <a:t>MVP to scale needs to move to a more stable architecture in a microservices App</a:t>
            </a:r>
          </a:p>
          <a:p>
            <a:endParaRPr lang="es-FR" dirty="0"/>
          </a:p>
        </p:txBody>
      </p:sp>
      <p:pic>
        <p:nvPicPr>
          <p:cNvPr id="9220" name="Picture 4" descr="THE NEW CHATGPT LOGO BLACK PNG 2025 - eDigital Agency">
            <a:extLst>
              <a:ext uri="{FF2B5EF4-FFF2-40B4-BE49-F238E27FC236}">
                <a16:creationId xmlns:a16="http://schemas.microsoft.com/office/drawing/2014/main" id="{F05CF465-18D7-44B3-B3AA-98E65047B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005" y="1233022"/>
            <a:ext cx="1303982" cy="37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97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870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dirty="0"/>
              <a:t>How It Works — The Intelligent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699" y="1250950"/>
            <a:ext cx="8534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dirty="0"/>
              <a:t>1. AI reads diet plan </a:t>
            </a:r>
            <a:r>
              <a:rPr lang="fr-FR" dirty="0" err="1"/>
              <a:t>issued</a:t>
            </a:r>
            <a:r>
              <a:rPr lang="fr-FR" dirty="0"/>
              <a:t> by the </a:t>
            </a:r>
            <a:r>
              <a:rPr lang="fr-FR" dirty="0" err="1"/>
              <a:t>nutritionist</a:t>
            </a:r>
            <a:r>
              <a:rPr dirty="0"/>
              <a:t> → 2. Rule engine defines compliance logic → 3. Vision AI matches meals</a:t>
            </a:r>
            <a:r>
              <a:rPr lang="fr-FR" dirty="0"/>
              <a:t> </a:t>
            </a:r>
            <a:r>
              <a:rPr lang="es-FR" dirty="0"/>
              <a:t>→ 4. Rule engine confirms level of compliance</a:t>
            </a:r>
            <a:r>
              <a:rPr dirty="0"/>
              <a:t> → </a:t>
            </a:r>
            <a:r>
              <a:rPr lang="fr-FR" dirty="0"/>
              <a:t>5</a:t>
            </a:r>
            <a:r>
              <a:rPr dirty="0"/>
              <a:t>. Dashboard shows</a:t>
            </a:r>
            <a:r>
              <a:rPr lang="fr-FR" dirty="0"/>
              <a:t> </a:t>
            </a:r>
            <a:r>
              <a:rPr dirty="0"/>
              <a:t>adherence</a:t>
            </a:r>
            <a:r>
              <a:rPr lang="fr-FR" dirty="0"/>
              <a:t> for patient &amp; </a:t>
            </a:r>
            <a:r>
              <a:rPr lang="fr-FR" dirty="0" err="1"/>
              <a:t>ready</a:t>
            </a:r>
            <a:r>
              <a:rPr lang="fr-FR" dirty="0"/>
              <a:t> for </a:t>
            </a:r>
            <a:r>
              <a:rPr lang="fr-FR" dirty="0" err="1"/>
              <a:t>doctor’s</a:t>
            </a:r>
            <a:r>
              <a:rPr lang="fr-FR" dirty="0"/>
              <a:t> follow up.</a:t>
            </a:r>
            <a:endParaRPr dirty="0"/>
          </a:p>
        </p:txBody>
      </p:sp>
      <p:pic>
        <p:nvPicPr>
          <p:cNvPr id="4" name="Picture 3" descr="A_composite_digital_diagram_illustrates_an_AI-pow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754" y="2925892"/>
            <a:ext cx="5008289" cy="3579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generada">
            <a:extLst>
              <a:ext uri="{FF2B5EF4-FFF2-40B4-BE49-F238E27FC236}">
                <a16:creationId xmlns:a16="http://schemas.microsoft.com/office/drawing/2014/main" id="{29B6989D-645E-AAA1-C2FF-7FD1CA0B4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55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4673BA-E3FA-EC84-C160-1DC414397909}"/>
              </a:ext>
            </a:extLst>
          </p:cNvPr>
          <p:cNvSpPr txBox="1"/>
          <p:nvPr/>
        </p:nvSpPr>
        <p:spPr>
          <a:xfrm>
            <a:off x="731520" y="287020"/>
            <a:ext cx="36880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lang="es-ES" sz="3800" dirty="0"/>
              <a:t>Real-time </a:t>
            </a:r>
            <a:r>
              <a:rPr lang="es-ES" sz="3800" dirty="0" err="1"/>
              <a:t>Feedback</a:t>
            </a:r>
            <a:r>
              <a:rPr lang="es-ES" sz="3800" dirty="0"/>
              <a:t> </a:t>
            </a:r>
            <a:r>
              <a:rPr lang="es-ES" sz="3800" dirty="0" err="1"/>
              <a:t>on</a:t>
            </a:r>
            <a:r>
              <a:rPr lang="es-ES" sz="3800" dirty="0"/>
              <a:t> </a:t>
            </a:r>
            <a:r>
              <a:rPr lang="es-ES" sz="3800" dirty="0" err="1"/>
              <a:t>Compliance</a:t>
            </a:r>
            <a:endParaRPr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B4CCD09-95A3-1450-9DA5-6F431D806CCB}"/>
              </a:ext>
            </a:extLst>
          </p:cNvPr>
          <p:cNvSpPr txBox="1"/>
          <p:nvPr/>
        </p:nvSpPr>
        <p:spPr>
          <a:xfrm>
            <a:off x="731520" y="2324100"/>
            <a:ext cx="384048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FR" altLang="es-FR" sz="2000" dirty="0">
                <a:solidFill>
                  <a:srgbClr val="000000"/>
                </a:solidFill>
                <a:latin typeface="-webkit-standard"/>
              </a:rPr>
              <a:t>Transforming meal tracking from passive logging to active behavioral guidance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FR" altLang="es-FR" sz="2000" dirty="0">
              <a:solidFill>
                <a:srgbClr val="000000"/>
              </a:solidFill>
              <a:latin typeface="-webkit-standard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FR" altLang="es-FR" sz="2000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161D9-7138-D70F-ADE0-6CC323066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FR" altLang="es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FR" altLang="es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86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0E1D924D-D10F-0101-02BA-BF8A5F626302}"/>
              </a:ext>
            </a:extLst>
          </p:cNvPr>
          <p:cNvSpPr txBox="1"/>
          <p:nvPr/>
        </p:nvSpPr>
        <p:spPr>
          <a:xfrm>
            <a:off x="731520" y="365760"/>
            <a:ext cx="331343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lang="es-ES" sz="3800" dirty="0" err="1"/>
              <a:t>Trend-awareness</a:t>
            </a:r>
            <a:r>
              <a:rPr lang="es-ES" sz="3800" dirty="0"/>
              <a:t> &amp; </a:t>
            </a:r>
            <a:r>
              <a:rPr lang="es-ES" sz="3800" dirty="0" err="1"/>
              <a:t>Gentle</a:t>
            </a:r>
            <a:r>
              <a:rPr lang="es-ES" sz="3800" dirty="0"/>
              <a:t> </a:t>
            </a:r>
            <a:r>
              <a:rPr lang="es-ES" sz="3800" dirty="0" err="1"/>
              <a:t>Reminders</a:t>
            </a:r>
            <a:r>
              <a:rPr lang="es-ES" sz="3800" dirty="0"/>
              <a:t> </a:t>
            </a:r>
            <a:r>
              <a:rPr lang="es-ES" sz="3800" dirty="0">
                <a:sym typeface="Wingdings" pitchFamily="2" charset="2"/>
              </a:rPr>
              <a:t></a:t>
            </a:r>
            <a:endParaRPr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A66740A-CD02-8D25-BD17-D2FDD93E4AA7}"/>
              </a:ext>
            </a:extLst>
          </p:cNvPr>
          <p:cNvSpPr txBox="1"/>
          <p:nvPr/>
        </p:nvSpPr>
        <p:spPr>
          <a:xfrm>
            <a:off x="731520" y="2788108"/>
            <a:ext cx="36544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s-ES" dirty="0" err="1"/>
              <a:t>HappyDiet</a:t>
            </a:r>
            <a:r>
              <a:rPr lang="es-ES" dirty="0"/>
              <a:t> can </a:t>
            </a:r>
            <a:r>
              <a:rPr lang="es-ES" dirty="0" err="1"/>
              <a:t>identify</a:t>
            </a:r>
            <a:r>
              <a:rPr lang="es-ES" dirty="0"/>
              <a:t> </a:t>
            </a:r>
            <a:r>
              <a:rPr lang="es-ES" dirty="0" err="1"/>
              <a:t>deviations</a:t>
            </a:r>
            <a:r>
              <a:rPr lang="es-ES" dirty="0"/>
              <a:t> and </a:t>
            </a:r>
            <a:r>
              <a:rPr lang="es-ES" dirty="0" err="1"/>
              <a:t>trends</a:t>
            </a:r>
            <a:r>
              <a:rPr lang="es-ES" dirty="0"/>
              <a:t> and </a:t>
            </a:r>
            <a:r>
              <a:rPr lang="es-ES" dirty="0" err="1"/>
              <a:t>provide</a:t>
            </a:r>
            <a:r>
              <a:rPr lang="es-ES" dirty="0"/>
              <a:t> </a:t>
            </a:r>
            <a:r>
              <a:rPr lang="es-ES" dirty="0" err="1"/>
              <a:t>gentle</a:t>
            </a:r>
            <a:r>
              <a:rPr lang="es-ES" dirty="0"/>
              <a:t> </a:t>
            </a:r>
            <a:r>
              <a:rPr lang="es-ES" dirty="0" err="1"/>
              <a:t>reminders</a:t>
            </a:r>
            <a:r>
              <a:rPr lang="es-ES" dirty="0"/>
              <a:t> and </a:t>
            </a:r>
            <a:r>
              <a:rPr lang="es-ES" dirty="0" err="1"/>
              <a:t>insights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patterns</a:t>
            </a:r>
            <a:endParaRPr lang="es-ES" dirty="0"/>
          </a:p>
          <a:p>
            <a:endParaRPr dirty="0"/>
          </a:p>
        </p:txBody>
      </p:sp>
      <p:pic>
        <p:nvPicPr>
          <p:cNvPr id="14" name="Imagen 13" descr="Una pantalla de un celular&#10;&#10;El contenido generado por IA puede ser incorrecto.">
            <a:extLst>
              <a:ext uri="{FF2B5EF4-FFF2-40B4-BE49-F238E27FC236}">
                <a16:creationId xmlns:a16="http://schemas.microsoft.com/office/drawing/2014/main" id="{4295EFD2-0E8B-44DD-C0B0-8D3B38EDC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3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BF0EB-8A39-1EA3-5E85-A6965162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84E00-9092-7D5B-640C-68EC72A0566B}"/>
              </a:ext>
            </a:extLst>
          </p:cNvPr>
          <p:cNvSpPr txBox="1"/>
          <p:nvPr/>
        </p:nvSpPr>
        <p:spPr>
          <a:xfrm>
            <a:off x="731520" y="287020"/>
            <a:ext cx="36880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FR"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lang="es-ES" sz="3800" dirty="0" err="1"/>
              <a:t>Personalized</a:t>
            </a:r>
            <a:r>
              <a:rPr lang="es-ES" sz="3800" dirty="0"/>
              <a:t> </a:t>
            </a:r>
            <a:r>
              <a:rPr lang="es-ES" sz="3800" dirty="0" err="1"/>
              <a:t>meal</a:t>
            </a:r>
            <a:r>
              <a:rPr lang="es-ES" sz="3800" dirty="0"/>
              <a:t> plan </a:t>
            </a:r>
            <a:endParaRPr lang="es-FR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B832932-8573-614A-1793-987A217FF9EF}"/>
              </a:ext>
            </a:extLst>
          </p:cNvPr>
          <p:cNvSpPr txBox="1"/>
          <p:nvPr/>
        </p:nvSpPr>
        <p:spPr>
          <a:xfrm>
            <a:off x="731520" y="2324100"/>
            <a:ext cx="338328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FR" altLang="es-FR" sz="2000" dirty="0">
                <a:solidFill>
                  <a:srgbClr val="000000"/>
                </a:solidFill>
                <a:latin typeface="-webkit-standard"/>
              </a:rPr>
              <a:t>Powered by AI-LLM, given its knowledge on the diet plan it can provide a meal plan for the day or the week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FR" altLang="es-FR" sz="2000" dirty="0">
              <a:solidFill>
                <a:srgbClr val="000000"/>
              </a:solidFill>
              <a:latin typeface="-webkit-standard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FR" altLang="es-FR" sz="2000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75A92A-50BA-D1A7-38B9-BD9D71D3C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FR" altLang="es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FR" altLang="es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 descr="Interfaz de usuario gráfica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73223D95-A725-2089-0D53-94D06BAAE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8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741126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s-ES"/>
          </a:p>
          <a:p>
            <a:pPr>
              <a:defRPr sz="3800" b="1">
                <a:solidFill>
                  <a:srgbClr val="8FFFE0"/>
                </a:solidFill>
              </a:defRPr>
            </a:pPr>
            <a:r>
              <a:rPr lang="es-ES"/>
              <a:t>The Rule Engine — Our Superpower</a:t>
            </a:r>
            <a:endParaRPr lang="es-E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904672"/>
            <a:ext cx="35547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fr-FR"/>
              <a:t>Makes the diet actionable - Transforms dietary logic into executable and persistent rules enabling the system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fr-F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fr-FR"/>
              <a:t>Remains adaptive &amp; explainable </a:t>
            </a:r>
            <a:br>
              <a:rPr lang="fr-FR"/>
            </a:br>
            <a:endParaRPr lang="fr-F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fr-FR"/>
              <a:t>Combined with AI/LLM - Enables assistance &amp; coaching, eg coaching in deviations, weekly meal plan, supermarket purchase list…</a:t>
            </a:r>
            <a:endParaRPr lang="fr-FR" dirty="0"/>
          </a:p>
        </p:txBody>
      </p:sp>
      <p:pic>
        <p:nvPicPr>
          <p:cNvPr id="1026" name="Picture 2" descr="Imagen generada">
            <a:extLst>
              <a:ext uri="{FF2B5EF4-FFF2-40B4-BE49-F238E27FC236}">
                <a16:creationId xmlns:a16="http://schemas.microsoft.com/office/drawing/2014/main" id="{98C49F01-1AF5-96D6-9ED7-3BADD7F3A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00" y="2476500"/>
            <a:ext cx="4033925" cy="268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800" b="1">
                <a:solidFill>
                  <a:srgbClr val="8FFFE0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fr-FR" dirty="0"/>
              <a:t>AI </a:t>
            </a:r>
            <a:r>
              <a:rPr lang="fr-FR" dirty="0" err="1"/>
              <a:t>Across</a:t>
            </a:r>
            <a:r>
              <a:rPr lang="fr-FR" dirty="0"/>
              <a:t> the value </a:t>
            </a:r>
            <a:r>
              <a:rPr lang="fr-FR" dirty="0" err="1"/>
              <a:t>chain</a:t>
            </a:r>
            <a:r>
              <a:rPr dirty="0"/>
              <a:t>: </a:t>
            </a:r>
            <a:endParaRPr lang="fr-FR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LLM +</a:t>
            </a:r>
            <a:r>
              <a:rPr lang="fr-FR" dirty="0"/>
              <a:t> AI</a:t>
            </a:r>
            <a:r>
              <a:rPr dirty="0"/>
              <a:t> Vision → Rule Engine → Dashboard → Insights</a:t>
            </a:r>
            <a:r>
              <a:rPr lang="fr-FR" dirty="0"/>
              <a:t> + AI</a:t>
            </a:r>
            <a:br>
              <a:rPr dirty="0"/>
            </a:br>
            <a:endParaRPr lang="fr-FR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A scalable framework that can extend beyond nutrition into broader lifestyle and chronic condition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dirty="0"/>
              <a:t>B2C &amp; B2B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464646"/>
                </a:solidFill>
              </a:defRPr>
            </a:pPr>
            <a:r>
              <a:t>B2C: effortless daily tracking. B2B: clinics and insurers gain measurable data and insights.</a:t>
            </a:r>
          </a:p>
        </p:txBody>
      </p:sp>
      <p:pic>
        <p:nvPicPr>
          <p:cNvPr id="4" name="Picture 3" descr="A_four-panel_photographic_collage_documents_a_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29" y="2570480"/>
            <a:ext cx="5910002" cy="3921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dirty="0"/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dirty="0"/>
              <a:t>Phase 1: B2B SaaS/API for clinics &amp; insurers.</a:t>
            </a:r>
            <a:br>
              <a:rPr dirty="0"/>
            </a:br>
            <a:r>
              <a:rPr dirty="0"/>
              <a:t>Phase 2: Consumer freemium app.</a:t>
            </a:r>
            <a:br>
              <a:rPr dirty="0"/>
            </a:br>
            <a:r>
              <a:rPr dirty="0"/>
              <a:t>Phase 3: Analytics insights and integrations.</a:t>
            </a:r>
            <a:endParaRPr lang="fr-FR"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FR" dirty="0"/>
              <a:t>Phase 4: Gadget for AI Wearable Devices (Smart glasses, …)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t>Go-To-Market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dirty="0"/>
              <a:t>2025 Q4: Prototype validation.</a:t>
            </a:r>
            <a:br>
              <a:rPr dirty="0"/>
            </a:br>
            <a:r>
              <a:rPr dirty="0"/>
              <a:t>2026: Pilot with digital health clinics</a:t>
            </a:r>
            <a:r>
              <a:rPr lang="fr-FR" dirty="0"/>
              <a:t> in Madrid &amp; Paris.</a:t>
            </a:r>
            <a:br>
              <a:rPr dirty="0"/>
            </a:br>
            <a:r>
              <a:rPr dirty="0"/>
              <a:t>2027:</a:t>
            </a:r>
            <a:r>
              <a:rPr lang="fr-FR" dirty="0"/>
              <a:t> </a:t>
            </a:r>
            <a:r>
              <a:rPr dirty="0"/>
              <a:t>API integrations and scaling</a:t>
            </a:r>
            <a:r>
              <a:rPr lang="fr-FR" dirty="0"/>
              <a:t> for </a:t>
            </a:r>
            <a:r>
              <a:rPr lang="fr-FR" dirty="0" err="1"/>
              <a:t>Insurers</a:t>
            </a:r>
            <a:r>
              <a:rPr lang="fr-FR" dirty="0"/>
              <a:t> and AI </a:t>
            </a:r>
            <a:r>
              <a:rPr lang="fr-FR" dirty="0" err="1"/>
              <a:t>Wearables</a:t>
            </a:r>
            <a:endParaRPr lang="fr-FR" dirty="0"/>
          </a:p>
          <a:p>
            <a:pPr>
              <a:defRPr sz="2000">
                <a:solidFill>
                  <a:srgbClr val="464646"/>
                </a:solidFill>
              </a:defRPr>
            </a:pPr>
            <a:endParaRPr lang="fr-FR"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Next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steps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pilot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program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, pre-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seed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round,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team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expansion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lang="es-ES" dirty="0"/>
          </a:p>
          <a:p>
            <a:pPr>
              <a:defRPr sz="3800" b="1">
                <a:solidFill>
                  <a:srgbClr val="1E5046"/>
                </a:solidFill>
              </a:defRPr>
            </a:pPr>
            <a:r>
              <a:rPr lang="es-ES" dirty="0" err="1"/>
              <a:t>Founder</a:t>
            </a:r>
            <a:r>
              <a:rPr lang="es-ES" dirty="0"/>
              <a:t> &amp; Next </a:t>
            </a:r>
            <a:r>
              <a:rPr lang="es-ES" dirty="0" err="1"/>
              <a:t>Steps</a:t>
            </a:r>
            <a:endParaRPr lang="es-E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63133"/>
            <a:ext cx="5516879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ES" altLang="es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Pablo Miranda – </a:t>
            </a:r>
            <a:r>
              <a:rPr lang="es-ES" altLang="es-FR" sz="2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Founder</a:t>
            </a:r>
            <a:r>
              <a:rPr lang="es-ES" altLang="es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 CEO, </a:t>
            </a:r>
            <a:r>
              <a:rPr lang="es-ES" altLang="es-FR" sz="20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HappyDiet</a:t>
            </a:r>
            <a:r>
              <a:rPr lang="es-ES" altLang="es-FR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ES" dirty="0">
                <a:latin typeface="Wingdings" pitchFamily="2" charset="2"/>
              </a:rPr>
              <a:t>+</a:t>
            </a:r>
            <a:r>
              <a:rPr lang="es-ES" dirty="0" err="1"/>
              <a:t>pablo.miranda@sfr.fr</a:t>
            </a:r>
            <a:r>
              <a:rPr lang="es-ES" dirty="0"/>
              <a:t> 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ES" dirty="0"/>
              <a:t>      </a:t>
            </a:r>
            <a:r>
              <a:rPr lang="es-ES" dirty="0" err="1"/>
              <a:t>linkedin.com</a:t>
            </a:r>
            <a:r>
              <a:rPr lang="es-ES" dirty="0"/>
              <a:t>/in/</a:t>
            </a:r>
            <a:r>
              <a:rPr lang="es-ES" dirty="0" err="1"/>
              <a:t>pablomirandamba</a:t>
            </a:r>
            <a:r>
              <a:rPr lang="es-ES" dirty="0"/>
              <a:t>/</a:t>
            </a:r>
            <a:br>
              <a:rPr lang="es-ES" dirty="0"/>
            </a:b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FR" altLang="es-FR" sz="2000" dirty="0">
                <a:solidFill>
                  <a:srgbClr val="000000"/>
                </a:solidFill>
                <a:latin typeface="-webkit-standard"/>
              </a:rPr>
              <a:t>MSc (c) in Computer Science | MBA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FR" altLang="es-FR" sz="2000" dirty="0">
                <a:solidFill>
                  <a:srgbClr val="000000"/>
                </a:solidFill>
                <a:latin typeface="-webkit-standard"/>
              </a:rPr>
              <a:t>BSc in Software Engineering &amp; Political Science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br>
              <a:rPr lang="es-FR" altLang="es-FR" sz="2000" dirty="0"/>
            </a:br>
            <a:r>
              <a:rPr lang="es-FR" altLang="es-FR" sz="2000" dirty="0">
                <a:solidFill>
                  <a:srgbClr val="000000"/>
                </a:solidFill>
                <a:latin typeface="-webkit-standard"/>
              </a:rPr>
              <a:t>12+ years in (re)insurance, business intelligence, cybersecurity &amp; data protection (GDPR, HIPAA, DORA, AI Act) across Europe, US &amp; Latam.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br>
              <a:rPr lang="es-FR" altLang="es-FR" sz="2000" dirty="0"/>
            </a:br>
            <a:r>
              <a:rPr lang="es-FR" altLang="es-FR" sz="2000" dirty="0">
                <a:solidFill>
                  <a:srgbClr val="000000"/>
                </a:solidFill>
                <a:latin typeface="-webkit-standard"/>
              </a:rPr>
              <a:t>Now applying that vision to healthtech — building </a:t>
            </a:r>
            <a:r>
              <a:rPr lang="es-FR" altLang="es-FR" sz="2000" b="1" dirty="0">
                <a:solidFill>
                  <a:srgbClr val="000000"/>
                </a:solidFill>
              </a:rPr>
              <a:t>AI systems that automate nutritional adherence and compliance reporting</a:t>
            </a:r>
            <a:r>
              <a:rPr lang="es-FR" altLang="es-FR" sz="2000" dirty="0">
                <a:solidFill>
                  <a:srgbClr val="000000"/>
                </a:solidFill>
                <a:latin typeface="-webkit-standard"/>
              </a:rPr>
              <a:t>.</a:t>
            </a:r>
            <a:br>
              <a:rPr lang="es-FR" altLang="es-FR" sz="2000" dirty="0"/>
            </a:br>
            <a:endParaRPr lang="es-FR" altLang="es-FR" sz="2000" dirty="0"/>
          </a:p>
          <a:p>
            <a:pPr>
              <a:defRPr sz="2000">
                <a:solidFill>
                  <a:srgbClr val="464646"/>
                </a:solidFill>
              </a:defRPr>
            </a:pPr>
            <a:r>
              <a:rPr lang="es-FR" altLang="es-FR" sz="2000" dirty="0">
                <a:solidFill>
                  <a:srgbClr val="000000"/>
                </a:solidFill>
                <a:latin typeface="-webkit-standard"/>
              </a:rPr>
              <a:t>CISSP &amp; DPO in progress.</a:t>
            </a:r>
            <a:endParaRPr lang="es-FR" altLang="es-FR" sz="2000" dirty="0">
              <a:latin typeface="Arial" panose="020B0604020202020204" pitchFamily="34" charset="0"/>
            </a:endParaRPr>
          </a:p>
          <a:p>
            <a:pPr algn="just">
              <a:defRPr sz="2000">
                <a:solidFill>
                  <a:srgbClr val="464646"/>
                </a:solidFill>
              </a:defRPr>
            </a:pP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Linkedin logo Vectors - Download Free High-Quality Vectors ...">
            <a:extLst>
              <a:ext uri="{FF2B5EF4-FFF2-40B4-BE49-F238E27FC236}">
                <a16:creationId xmlns:a16="http://schemas.microsoft.com/office/drawing/2014/main" id="{FD469D2B-9A2F-CBE1-96C6-57360E53E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11" y="2311988"/>
            <a:ext cx="358179" cy="29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ablo Miranda">
            <a:extLst>
              <a:ext uri="{FF2B5EF4-FFF2-40B4-BE49-F238E27FC236}">
                <a16:creationId xmlns:a16="http://schemas.microsoft.com/office/drawing/2014/main" id="{2CAB2B76-91C7-972C-3DC5-CD76BE821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3" r="11291" b="-2"/>
          <a:stretch>
            <a:fillRect/>
          </a:stretch>
        </p:blipFill>
        <p:spPr bwMode="auto">
          <a:xfrm>
            <a:off x="6891868" y="3967462"/>
            <a:ext cx="2252132" cy="2890538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 descr="Imagen generada">
            <a:extLst>
              <a:ext uri="{FF2B5EF4-FFF2-40B4-BE49-F238E27FC236}">
                <a16:creationId xmlns:a16="http://schemas.microsoft.com/office/drawing/2014/main" id="{49178862-BD6B-1BE6-EFD8-D322403A3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756" y="215900"/>
            <a:ext cx="6426200" cy="642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003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173</TotalTime>
  <Words>611</Words>
  <Application>Microsoft Macintosh PowerPoint</Application>
  <PresentationFormat>Presentación en pantalla (4:3)</PresentationFormat>
  <Paragraphs>80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-webkit-standard</vt:lpstr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pablo miranda</cp:lastModifiedBy>
  <cp:revision>16</cp:revision>
  <dcterms:created xsi:type="dcterms:W3CDTF">2013-01-27T09:14:16Z</dcterms:created>
  <dcterms:modified xsi:type="dcterms:W3CDTF">2025-10-09T11:32:03Z</dcterms:modified>
  <cp:category/>
</cp:coreProperties>
</file>